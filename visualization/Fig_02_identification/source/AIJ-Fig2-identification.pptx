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3"/>
  </p:notesMasterIdLst>
  <p:sldIdLst>
    <p:sldId id="300" r:id="rId2"/>
  </p:sldIdLst>
  <p:sldSz cx="1187926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7EC"/>
    <a:srgbClr val="D8DDE3"/>
    <a:srgbClr val="2F3640"/>
    <a:srgbClr val="A9B0B8"/>
    <a:srgbClr val="D9DEE3"/>
    <a:srgbClr val="FAFAFA"/>
    <a:srgbClr val="FDF0E8"/>
    <a:srgbClr val="F7E6DD"/>
    <a:srgbClr val="FBF7EE"/>
    <a:srgbClr val="D3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81036" autoAdjust="0"/>
  </p:normalViewPr>
  <p:slideViewPr>
    <p:cSldViewPr snapToGrid="0" showGuides="1">
      <p:cViewPr>
        <p:scale>
          <a:sx n="179" d="100"/>
          <a:sy n="179" d="100"/>
        </p:scale>
        <p:origin x="336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935288" y="1143000"/>
            <a:ext cx="127285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1pPr>
    <a:lvl2pPr marL="367747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2pPr>
    <a:lvl3pPr marL="735493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3pPr>
    <a:lvl4pPr marL="1103240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4pPr>
    <a:lvl5pPr marL="1470986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5pPr>
    <a:lvl6pPr marL="1838733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6pPr>
    <a:lvl7pPr marL="2206480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7pPr>
    <a:lvl8pPr marL="2574226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8pPr>
    <a:lvl9pPr marL="2941973" algn="l" defTabSz="735493" rtl="0" eaLnBrk="1" latinLnBrk="0" hangingPunct="1">
      <a:defRPr sz="9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E2AD-779E-F33C-C41A-023AC612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F27E4F-D675-2BE0-F179-F73C93157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935288" y="1143000"/>
            <a:ext cx="1272857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0938D8-964E-23D8-6A00-DC1F9405E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7A3EE-AFD9-3D2C-AA42-83FD638C5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86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471289"/>
            <a:ext cx="8909447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1512522"/>
            <a:ext cx="8909447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4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2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717932"/>
            <a:ext cx="10245864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1927150"/>
            <a:ext cx="10245864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5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766593"/>
            <a:ext cx="5048687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766593"/>
            <a:ext cx="5048687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23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153319"/>
            <a:ext cx="10245864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705933"/>
            <a:ext cx="5025485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1051899"/>
            <a:ext cx="5025485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705933"/>
            <a:ext cx="5050234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1051899"/>
            <a:ext cx="5050234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28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0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9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191982"/>
            <a:ext cx="3831371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414627"/>
            <a:ext cx="6013877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863918"/>
            <a:ext cx="3831371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96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191982"/>
            <a:ext cx="3831371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414627"/>
            <a:ext cx="6013877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863918"/>
            <a:ext cx="3831371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31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9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153319"/>
            <a:ext cx="2561466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153319"/>
            <a:ext cx="7535907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1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153319"/>
            <a:ext cx="10245864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766593"/>
            <a:ext cx="10245864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2669079"/>
            <a:ext cx="267283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2669079"/>
            <a:ext cx="400925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2669079"/>
            <a:ext cx="267283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19EC-2129-0CF9-D999-C29628B7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36">
            <a:extLst>
              <a:ext uri="{FF2B5EF4-FFF2-40B4-BE49-F238E27FC236}">
                <a16:creationId xmlns:a16="http://schemas.microsoft.com/office/drawing/2014/main" id="{0D200A17-3326-4F1C-4AB8-4C3DF11CE02C}"/>
              </a:ext>
            </a:extLst>
          </p:cNvPr>
          <p:cNvSpPr/>
          <p:nvPr/>
        </p:nvSpPr>
        <p:spPr>
          <a:xfrm>
            <a:off x="189161" y="496279"/>
            <a:ext cx="11448218" cy="566495"/>
          </a:xfrm>
          <a:prstGeom prst="roundRect">
            <a:avLst>
              <a:gd name="adj" fmla="val 4832"/>
            </a:avLst>
          </a:prstGeom>
          <a:solidFill>
            <a:srgbClr val="F6F9FE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6" dirty="0">
              <a:noFill/>
            </a:endParaRPr>
          </a:p>
        </p:txBody>
      </p:sp>
      <p:sp>
        <p:nvSpPr>
          <p:cNvPr id="1376" name="矩形: 圆角 36">
            <a:extLst>
              <a:ext uri="{FF2B5EF4-FFF2-40B4-BE49-F238E27FC236}">
                <a16:creationId xmlns:a16="http://schemas.microsoft.com/office/drawing/2014/main" id="{234E29F2-C2F9-E00F-7861-8D6FAE8EC717}"/>
              </a:ext>
            </a:extLst>
          </p:cNvPr>
          <p:cNvSpPr/>
          <p:nvPr/>
        </p:nvSpPr>
        <p:spPr>
          <a:xfrm>
            <a:off x="189161" y="1096810"/>
            <a:ext cx="11448218" cy="566495"/>
          </a:xfrm>
          <a:prstGeom prst="roundRect">
            <a:avLst>
              <a:gd name="adj" fmla="val 4832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6" dirty="0">
              <a:noFill/>
            </a:endParaRPr>
          </a:p>
        </p:txBody>
      </p:sp>
      <p:sp>
        <p:nvSpPr>
          <p:cNvPr id="84" name="矩形: 圆角 36">
            <a:extLst>
              <a:ext uri="{FF2B5EF4-FFF2-40B4-BE49-F238E27FC236}">
                <a16:creationId xmlns:a16="http://schemas.microsoft.com/office/drawing/2014/main" id="{9A1AB2BB-2875-B566-9528-A3EAD9454AE9}"/>
              </a:ext>
            </a:extLst>
          </p:cNvPr>
          <p:cNvSpPr/>
          <p:nvPr/>
        </p:nvSpPr>
        <p:spPr>
          <a:xfrm>
            <a:off x="6895603" y="387632"/>
            <a:ext cx="4862312" cy="1385451"/>
          </a:xfrm>
          <a:prstGeom prst="roundRect">
            <a:avLst>
              <a:gd name="adj" fmla="val 4832"/>
            </a:avLst>
          </a:prstGeom>
          <a:solidFill>
            <a:srgbClr val="FDF0E8">
              <a:alpha val="69804"/>
            </a:srgbClr>
          </a:solidFill>
          <a:ln w="19050">
            <a:solidFill>
              <a:srgbClr val="DF815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6" dirty="0"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975087-86B2-B8BA-2D1D-6822C0FC997C}"/>
                  </a:ext>
                </a:extLst>
              </p:cNvPr>
              <p:cNvSpPr txBox="1"/>
              <p:nvPr/>
            </p:nvSpPr>
            <p:spPr>
              <a:xfrm>
                <a:off x="197310" y="485293"/>
                <a:ext cx="18289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0C27A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Target</a:t>
                </a:r>
                <a:r>
                  <a:rPr lang="zh-CN" altLang="en-US" sz="1600" b="1" dirty="0">
                    <a:solidFill>
                      <a:srgbClr val="0C27A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600" b="1" dirty="0">
                    <a:solidFill>
                      <a:srgbClr val="0C27A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rgbClr val="0C27A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altLang="zh-CN" sz="1600" i="1" dirty="0">
                        <a:solidFill>
                          <a:srgbClr val="0C27A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1600" b="1" i="1" dirty="0">
                        <a:solidFill>
                          <a:srgbClr val="0C27A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altLang="zh-CN" sz="1600" i="1" dirty="0">
                        <a:solidFill>
                          <a:srgbClr val="0C27A6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solidFill>
                      <a:srgbClr val="0C27A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975087-86B2-B8BA-2D1D-6822C0FC9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10" y="485293"/>
                <a:ext cx="1828995" cy="584775"/>
              </a:xfrm>
              <a:prstGeom prst="rect">
                <a:avLst/>
              </a:prstGeom>
              <a:blipFill>
                <a:blip r:embed="rId3"/>
                <a:stretch>
                  <a:fillRect t="-4255"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0" name="矩形: 圆角 36">
                <a:extLst>
                  <a:ext uri="{FF2B5EF4-FFF2-40B4-BE49-F238E27FC236}">
                    <a16:creationId xmlns:a16="http://schemas.microsoft.com/office/drawing/2014/main" id="{294A71C6-D098-8876-53A1-76FE7EB04E4C}"/>
                  </a:ext>
                </a:extLst>
              </p:cNvPr>
              <p:cNvSpPr/>
              <p:nvPr/>
            </p:nvSpPr>
            <p:spPr>
              <a:xfrm>
                <a:off x="153257" y="68756"/>
                <a:ext cx="11604659" cy="224265"/>
              </a:xfrm>
              <a:prstGeom prst="roundRect">
                <a:avLst>
                  <a:gd name="adj" fmla="val 23174"/>
                </a:avLst>
              </a:prstGeom>
              <a:solidFill>
                <a:srgbClr val="FBF7EE"/>
              </a:solidFill>
              <a:ln w="19050">
                <a:solidFill>
                  <a:srgbClr val="FBF7EE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20000"/>
                  </a:lnSpc>
                </a:pPr>
                <a:r>
                  <a:rPr lang="en-US" altLang="zh-CN" sz="1400" b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prompt </a:t>
                </a:r>
                <a14:m>
                  <m:oMath xmlns:m="http://schemas.openxmlformats.org/officeDocument/2006/math">
                    <m:r>
                      <a:rPr lang="en-US" altLang="zh-CN" sz="1400" b="1" i="1" dirty="0">
                        <a:solidFill>
                          <a:srgbClr val="3A3A3A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altLang="zh-CN" sz="1400" b="1" dirty="0">
                        <a:solidFill>
                          <a:srgbClr val="3A3A3A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en-US" sz="1400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en-US" altLang="zh-CN" sz="1400" i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Einstein’s Theory of General Relativity proposes that gravity is the warping of</a:t>
                </a:r>
                <a:r>
                  <a:rPr lang="zh-CN" altLang="en-US" sz="1400" i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zh-CN" altLang="en-US" sz="1400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  <a:r>
                  <a:rPr kumimoji="1" lang="en-US" altLang="zh-CN" sz="1400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  <a:r>
                  <a:rPr lang="en-US" altLang="zh-CN" sz="1400" b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Target token: </a:t>
                </a:r>
                <a:r>
                  <a:rPr lang="en-US" altLang="zh-CN" sz="1400" i="1" dirty="0">
                    <a:solidFill>
                      <a:srgbClr val="3A3A3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“space”</a:t>
                </a:r>
                <a:endParaRPr lang="zh-CN" altLang="en-US" sz="1400" i="1" dirty="0">
                  <a:solidFill>
                    <a:srgbClr val="3A3A3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60" name="矩形: 圆角 36">
                <a:extLst>
                  <a:ext uri="{FF2B5EF4-FFF2-40B4-BE49-F238E27FC236}">
                    <a16:creationId xmlns:a16="http://schemas.microsoft.com/office/drawing/2014/main" id="{294A71C6-D098-8876-53A1-76FE7EB04E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57" y="68756"/>
                <a:ext cx="11604659" cy="224265"/>
              </a:xfrm>
              <a:prstGeom prst="roundRect">
                <a:avLst>
                  <a:gd name="adj" fmla="val 23174"/>
                </a:avLst>
              </a:prstGeom>
              <a:blipFill>
                <a:blip r:embed="rId4"/>
                <a:stretch>
                  <a:fillRect t="-15000" b="-45000"/>
                </a:stretch>
              </a:blipFill>
              <a:ln w="19050">
                <a:solidFill>
                  <a:srgbClr val="FBF7EE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0DC3FF1B-DD29-BAA4-9B68-BF5DD67140F1}"/>
              </a:ext>
            </a:extLst>
          </p:cNvPr>
          <p:cNvSpPr/>
          <p:nvPr/>
        </p:nvSpPr>
        <p:spPr>
          <a:xfrm>
            <a:off x="7053767" y="754506"/>
            <a:ext cx="1116967" cy="236808"/>
          </a:xfrm>
          <a:prstGeom prst="roundRect">
            <a:avLst/>
          </a:prstGeom>
          <a:solidFill>
            <a:srgbClr val="FBE0D3"/>
          </a:solidFill>
          <a:ln>
            <a:solidFill>
              <a:srgbClr val="E7A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9">
            <a:extLst>
              <a:ext uri="{FF2B5EF4-FFF2-40B4-BE49-F238E27FC236}">
                <a16:creationId xmlns:a16="http://schemas.microsoft.com/office/drawing/2014/main" id="{A50FB15D-2BC8-C214-F958-E0AABB87804F}"/>
              </a:ext>
            </a:extLst>
          </p:cNvPr>
          <p:cNvSpPr/>
          <p:nvPr/>
        </p:nvSpPr>
        <p:spPr>
          <a:xfrm>
            <a:off x="2003254" y="574506"/>
            <a:ext cx="180000" cy="180000"/>
          </a:xfrm>
          <a:prstGeom prst="round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+</a:t>
            </a:r>
            <a:endParaRPr lang="zh-CN" altLang="en-US" sz="1400" dirty="0"/>
          </a:p>
        </p:txBody>
      </p:sp>
      <p:sp>
        <p:nvSpPr>
          <p:cNvPr id="53" name="矩形: 圆角 36">
            <a:extLst>
              <a:ext uri="{FF2B5EF4-FFF2-40B4-BE49-F238E27FC236}">
                <a16:creationId xmlns:a16="http://schemas.microsoft.com/office/drawing/2014/main" id="{54EC6942-2797-F9C6-4F76-61788FD08958}"/>
              </a:ext>
            </a:extLst>
          </p:cNvPr>
          <p:cNvSpPr/>
          <p:nvPr/>
        </p:nvSpPr>
        <p:spPr>
          <a:xfrm>
            <a:off x="2293001" y="1868202"/>
            <a:ext cx="4426773" cy="955580"/>
          </a:xfrm>
          <a:prstGeom prst="roundRect">
            <a:avLst>
              <a:gd name="adj" fmla="val 14210"/>
            </a:avLst>
          </a:prstGeom>
          <a:solidFill>
            <a:srgbClr val="E1EED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en-US" altLang="zh-CN" b="1" dirty="0">
                <a:solidFill>
                  <a:srgbClr val="3F7D3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Generalizable</a:t>
            </a:r>
            <a:r>
              <a:rPr kumimoji="1" lang="zh-CN" altLang="en-US" b="1" dirty="0">
                <a:solidFill>
                  <a:srgbClr val="3F7D3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3F7D32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interactions</a:t>
            </a:r>
          </a:p>
          <a:p>
            <a:pPr algn="ctr">
              <a:defRPr/>
            </a:pPr>
            <a:r>
              <a:rPr kumimoji="1" lang="en-US" altLang="zh-CN" sz="1600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an interaction is </a:t>
            </a:r>
            <a:r>
              <a:rPr kumimoji="1" lang="en-US" altLang="zh-CN" sz="1600" b="1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consistently learned </a:t>
            </a:r>
            <a:r>
              <a:rPr kumimoji="1" lang="en-US" altLang="zh-CN" sz="1600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by different models trained on the same task</a:t>
            </a:r>
          </a:p>
        </p:txBody>
      </p:sp>
      <p:sp>
        <p:nvSpPr>
          <p:cNvPr id="54" name="矩形: 圆角 36">
            <a:extLst>
              <a:ext uri="{FF2B5EF4-FFF2-40B4-BE49-F238E27FC236}">
                <a16:creationId xmlns:a16="http://schemas.microsoft.com/office/drawing/2014/main" id="{3ED66E16-DF36-458C-F33F-86E4B3625F3B}"/>
              </a:ext>
            </a:extLst>
          </p:cNvPr>
          <p:cNvSpPr/>
          <p:nvPr/>
        </p:nvSpPr>
        <p:spPr>
          <a:xfrm>
            <a:off x="7050747" y="1868202"/>
            <a:ext cx="4529281" cy="955580"/>
          </a:xfrm>
          <a:prstGeom prst="roundRect">
            <a:avLst>
              <a:gd name="adj" fmla="val 19953"/>
            </a:avLst>
          </a:prstGeom>
          <a:solidFill>
            <a:srgbClr val="FBE0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64"/>
              </a:lnSpc>
              <a:defRPr/>
            </a:pPr>
            <a:r>
              <a:rPr lang="en-US" altLang="zh-CN" b="1" dirty="0">
                <a:solidFill>
                  <a:srgbClr val="8F3A1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Non-generalizable</a:t>
            </a:r>
            <a:r>
              <a:rPr lang="zh-CN" altLang="en-US" b="1" dirty="0">
                <a:solidFill>
                  <a:srgbClr val="8F3A1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8F3A1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interactions</a:t>
            </a:r>
            <a:endParaRPr lang="en-US" altLang="zh-CN" dirty="0">
              <a:solidFill>
                <a:srgbClr val="36415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ts val="1864"/>
              </a:lnSpc>
              <a:defRPr/>
            </a:pPr>
            <a:r>
              <a:rPr lang="en-US" altLang="zh-CN" sz="1600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an interaction is </a:t>
            </a:r>
            <a:r>
              <a:rPr lang="en-US" altLang="zh-CN" sz="1600" b="1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specific</a:t>
            </a:r>
            <a:r>
              <a:rPr lang="en-US" altLang="zh-CN" sz="1600" dirty="0">
                <a:solidFill>
                  <a:srgbClr val="2F364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to individual DNNs and less likely to transfer</a:t>
            </a:r>
          </a:p>
        </p:txBody>
      </p:sp>
      <p:cxnSp>
        <p:nvCxnSpPr>
          <p:cNvPr id="1348" name="直线连接符 1347">
            <a:extLst>
              <a:ext uri="{FF2B5EF4-FFF2-40B4-BE49-F238E27FC236}">
                <a16:creationId xmlns:a16="http://schemas.microsoft.com/office/drawing/2014/main" id="{4C33358F-6710-9B29-0919-7FEBFCB1337D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612245" y="673785"/>
            <a:ext cx="0" cy="80727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圆角矩形 1355">
            <a:extLst>
              <a:ext uri="{FF2B5EF4-FFF2-40B4-BE49-F238E27FC236}">
                <a16:creationId xmlns:a16="http://schemas.microsoft.com/office/drawing/2014/main" id="{0CD86B72-7322-A081-975E-E70E4ECD5E97}"/>
              </a:ext>
            </a:extLst>
          </p:cNvPr>
          <p:cNvSpPr/>
          <p:nvPr/>
        </p:nvSpPr>
        <p:spPr>
          <a:xfrm>
            <a:off x="8257031" y="754506"/>
            <a:ext cx="1785472" cy="236808"/>
          </a:xfrm>
          <a:prstGeom prst="roundRect">
            <a:avLst/>
          </a:prstGeom>
          <a:solidFill>
            <a:srgbClr val="FBE0D3"/>
          </a:solidFill>
          <a:ln>
            <a:solidFill>
              <a:srgbClr val="E7A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proposes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of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7" name="直线连接符 1356">
            <a:extLst>
              <a:ext uri="{FF2B5EF4-FFF2-40B4-BE49-F238E27FC236}">
                <a16:creationId xmlns:a16="http://schemas.microsoft.com/office/drawing/2014/main" id="{313AE735-D595-167A-2564-5510448CAE32}"/>
              </a:ext>
            </a:extLst>
          </p:cNvPr>
          <p:cNvCxnSpPr>
            <a:cxnSpLocks/>
            <a:stCxn id="1356" idx="0"/>
          </p:cNvCxnSpPr>
          <p:nvPr/>
        </p:nvCxnSpPr>
        <p:spPr>
          <a:xfrm flipV="1">
            <a:off x="9149767" y="673783"/>
            <a:ext cx="0" cy="80727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1" name="圆角矩形 1370">
            <a:extLst>
              <a:ext uri="{FF2B5EF4-FFF2-40B4-BE49-F238E27FC236}">
                <a16:creationId xmlns:a16="http://schemas.microsoft.com/office/drawing/2014/main" id="{48B3666E-9EBE-3A35-90C8-D0EBDCD592F6}"/>
              </a:ext>
            </a:extLst>
          </p:cNvPr>
          <p:cNvSpPr/>
          <p:nvPr/>
        </p:nvSpPr>
        <p:spPr>
          <a:xfrm>
            <a:off x="10126648" y="754506"/>
            <a:ext cx="1453376" cy="236808"/>
          </a:xfrm>
          <a:prstGeom prst="roundRect">
            <a:avLst/>
          </a:prstGeom>
          <a:solidFill>
            <a:srgbClr val="FBE0D3"/>
          </a:solidFill>
          <a:ln>
            <a:solidFill>
              <a:srgbClr val="E7A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72" name="直线连接符 1371">
            <a:extLst>
              <a:ext uri="{FF2B5EF4-FFF2-40B4-BE49-F238E27FC236}">
                <a16:creationId xmlns:a16="http://schemas.microsoft.com/office/drawing/2014/main" id="{44D5482E-32B1-7662-C7CA-D1A58ECCFBEF}"/>
              </a:ext>
            </a:extLst>
          </p:cNvPr>
          <p:cNvCxnSpPr>
            <a:cxnSpLocks/>
            <a:stCxn id="1371" idx="0"/>
          </p:cNvCxnSpPr>
          <p:nvPr/>
        </p:nvCxnSpPr>
        <p:spPr>
          <a:xfrm flipV="1">
            <a:off x="10853336" y="663849"/>
            <a:ext cx="0" cy="9066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7" name="文本框 1376">
                <a:extLst>
                  <a:ext uri="{FF2B5EF4-FFF2-40B4-BE49-F238E27FC236}">
                    <a16:creationId xmlns:a16="http://schemas.microsoft.com/office/drawing/2014/main" id="{4537E693-75C1-3BD9-05DF-B1C27ECA9FC0}"/>
                  </a:ext>
                </a:extLst>
              </p:cNvPr>
              <p:cNvSpPr txBox="1"/>
              <p:nvPr/>
            </p:nvSpPr>
            <p:spPr>
              <a:xfrm>
                <a:off x="186259" y="1085824"/>
                <a:ext cx="1851097" cy="605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2F3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Baseline</a:t>
                </a:r>
                <a:r>
                  <a:rPr lang="zh-CN" altLang="en-US" sz="1600" b="1" dirty="0">
                    <a:solidFill>
                      <a:srgbClr val="2F3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600" b="1" dirty="0">
                    <a:solidFill>
                      <a:srgbClr val="2F364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model</a:t>
                </a: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i="1" dirty="0">
                              <a:solidFill>
                                <a:srgbClr val="2F364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rgbClr val="2F364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rgbClr val="2F364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base</m:t>
                          </m:r>
                        </m:sup>
                      </m:sSup>
                      <m:r>
                        <a:rPr lang="en-US" altLang="zh-CN" sz="1600" i="1" dirty="0">
                          <a:solidFill>
                            <a:srgbClr val="2F364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1600" b="1" i="1" dirty="0">
                          <a:solidFill>
                            <a:srgbClr val="2F364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n-US" altLang="zh-CN" sz="1600" i="1" dirty="0">
                          <a:solidFill>
                            <a:srgbClr val="2F364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1600" dirty="0">
                          <a:solidFill>
                            <a:srgbClr val="2F364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solidFill>
                    <a:srgbClr val="2F364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77" name="文本框 1376">
                <a:extLst>
                  <a:ext uri="{FF2B5EF4-FFF2-40B4-BE49-F238E27FC236}">
                    <a16:creationId xmlns:a16="http://schemas.microsoft.com/office/drawing/2014/main" id="{4537E693-75C1-3BD9-05DF-B1C27ECA9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59" y="1085824"/>
                <a:ext cx="1851097" cy="605615"/>
              </a:xfrm>
              <a:prstGeom prst="rect">
                <a:avLst/>
              </a:prstGeom>
              <a:blipFill>
                <a:blip r:embed="rId5"/>
                <a:stretch>
                  <a:fillRect t="-2083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0" name="圆角矩形 1379">
            <a:extLst>
              <a:ext uri="{FF2B5EF4-FFF2-40B4-BE49-F238E27FC236}">
                <a16:creationId xmlns:a16="http://schemas.microsoft.com/office/drawing/2014/main" id="{7B89EAC0-1A94-97A1-1099-123FF3AB87AA}"/>
              </a:ext>
            </a:extLst>
          </p:cNvPr>
          <p:cNvSpPr/>
          <p:nvPr/>
        </p:nvSpPr>
        <p:spPr>
          <a:xfrm>
            <a:off x="7053767" y="1355037"/>
            <a:ext cx="1116967" cy="23680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9DE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66" dirty="0">
                <a:solidFill>
                  <a:srgbClr val="A9B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endParaRPr lang="zh-CN" altLang="en-US" sz="1766" dirty="0">
              <a:solidFill>
                <a:srgbClr val="A9B0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1" name="矩形: 圆角 29">
            <a:extLst>
              <a:ext uri="{FF2B5EF4-FFF2-40B4-BE49-F238E27FC236}">
                <a16:creationId xmlns:a16="http://schemas.microsoft.com/office/drawing/2014/main" id="{8D1CAB8A-C4C4-833F-3C5C-CACA51263801}"/>
              </a:ext>
            </a:extLst>
          </p:cNvPr>
          <p:cNvSpPr/>
          <p:nvPr/>
        </p:nvSpPr>
        <p:spPr>
          <a:xfrm>
            <a:off x="2003254" y="1175037"/>
            <a:ext cx="180000" cy="180000"/>
          </a:xfrm>
          <a:prstGeom prst="round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2F3640"/>
                </a:solidFill>
              </a:rPr>
              <a:t>+</a:t>
            </a:r>
            <a:endParaRPr lang="zh-CN" altLang="en-US" sz="1400" dirty="0">
              <a:solidFill>
                <a:srgbClr val="2F3640"/>
              </a:solidFill>
            </a:endParaRPr>
          </a:p>
        </p:txBody>
      </p:sp>
      <p:cxnSp>
        <p:nvCxnSpPr>
          <p:cNvPr id="1385" name="直线连接符 1384">
            <a:extLst>
              <a:ext uri="{FF2B5EF4-FFF2-40B4-BE49-F238E27FC236}">
                <a16:creationId xmlns:a16="http://schemas.microsoft.com/office/drawing/2014/main" id="{44EDC979-F0B3-DCD6-53C5-8B5C8C5540EB}"/>
              </a:ext>
            </a:extLst>
          </p:cNvPr>
          <p:cNvCxnSpPr>
            <a:cxnSpLocks/>
            <a:stCxn id="1380" idx="0"/>
          </p:cNvCxnSpPr>
          <p:nvPr/>
        </p:nvCxnSpPr>
        <p:spPr>
          <a:xfrm flipV="1">
            <a:off x="7612245" y="1274316"/>
            <a:ext cx="0" cy="8072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圆角矩形 1387">
            <a:extLst>
              <a:ext uri="{FF2B5EF4-FFF2-40B4-BE49-F238E27FC236}">
                <a16:creationId xmlns:a16="http://schemas.microsoft.com/office/drawing/2014/main" id="{90B7F0C7-9B5F-F121-FE45-D836CE3296EA}"/>
              </a:ext>
            </a:extLst>
          </p:cNvPr>
          <p:cNvSpPr/>
          <p:nvPr/>
        </p:nvSpPr>
        <p:spPr>
          <a:xfrm>
            <a:off x="8257031" y="1355037"/>
            <a:ext cx="1785472" cy="23680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9DE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66" dirty="0">
                <a:solidFill>
                  <a:srgbClr val="A9B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endParaRPr lang="zh-CN" altLang="en-US" sz="1766" dirty="0">
              <a:solidFill>
                <a:srgbClr val="A9B0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89" name="直线连接符 1388">
            <a:extLst>
              <a:ext uri="{FF2B5EF4-FFF2-40B4-BE49-F238E27FC236}">
                <a16:creationId xmlns:a16="http://schemas.microsoft.com/office/drawing/2014/main" id="{E200A605-56FD-9774-74B3-63C763115AAA}"/>
              </a:ext>
            </a:extLst>
          </p:cNvPr>
          <p:cNvCxnSpPr>
            <a:cxnSpLocks/>
            <a:stCxn id="1388" idx="0"/>
          </p:cNvCxnSpPr>
          <p:nvPr/>
        </p:nvCxnSpPr>
        <p:spPr>
          <a:xfrm flipV="1">
            <a:off x="9149767" y="1274314"/>
            <a:ext cx="0" cy="8072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0" name="圆角矩形 1389">
            <a:extLst>
              <a:ext uri="{FF2B5EF4-FFF2-40B4-BE49-F238E27FC236}">
                <a16:creationId xmlns:a16="http://schemas.microsoft.com/office/drawing/2014/main" id="{BE519E77-BD09-7144-5590-9643156E9389}"/>
              </a:ext>
            </a:extLst>
          </p:cNvPr>
          <p:cNvSpPr/>
          <p:nvPr/>
        </p:nvSpPr>
        <p:spPr>
          <a:xfrm>
            <a:off x="10126648" y="1355037"/>
            <a:ext cx="1453376" cy="236808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D9DE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66" dirty="0">
                <a:solidFill>
                  <a:srgbClr val="A9B0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endParaRPr lang="zh-CN" altLang="en-US" sz="1766" dirty="0">
              <a:solidFill>
                <a:srgbClr val="A9B0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91" name="直线连接符 1390">
            <a:extLst>
              <a:ext uri="{FF2B5EF4-FFF2-40B4-BE49-F238E27FC236}">
                <a16:creationId xmlns:a16="http://schemas.microsoft.com/office/drawing/2014/main" id="{19F34B78-3F6F-7022-F9C3-686AD979124C}"/>
              </a:ext>
            </a:extLst>
          </p:cNvPr>
          <p:cNvCxnSpPr>
            <a:cxnSpLocks/>
            <a:stCxn id="1390" idx="0"/>
          </p:cNvCxnSpPr>
          <p:nvPr/>
        </p:nvCxnSpPr>
        <p:spPr>
          <a:xfrm flipV="1">
            <a:off x="10853336" y="1264380"/>
            <a:ext cx="0" cy="9066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36">
            <a:extLst>
              <a:ext uri="{FF2B5EF4-FFF2-40B4-BE49-F238E27FC236}">
                <a16:creationId xmlns:a16="http://schemas.microsoft.com/office/drawing/2014/main" id="{A1024538-9A92-82A3-A631-C010D834A1EC}"/>
              </a:ext>
            </a:extLst>
          </p:cNvPr>
          <p:cNvSpPr/>
          <p:nvPr/>
        </p:nvSpPr>
        <p:spPr>
          <a:xfrm>
            <a:off x="2258616" y="387632"/>
            <a:ext cx="4516844" cy="1385451"/>
          </a:xfrm>
          <a:prstGeom prst="roundRect">
            <a:avLst>
              <a:gd name="adj" fmla="val 4832"/>
            </a:avLst>
          </a:prstGeom>
          <a:solidFill>
            <a:srgbClr val="F6FBED">
              <a:alpha val="70196"/>
            </a:srgbClr>
          </a:solidFill>
          <a:ln w="19050">
            <a:solidFill>
              <a:srgbClr val="3F7D3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6" dirty="0">
              <a:noFill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E1907915-CE2D-710E-3CB7-D005BF1E9983}"/>
              </a:ext>
            </a:extLst>
          </p:cNvPr>
          <p:cNvSpPr/>
          <p:nvPr/>
        </p:nvSpPr>
        <p:spPr>
          <a:xfrm>
            <a:off x="2293000" y="745233"/>
            <a:ext cx="1469815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Relativity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CE7DE03-67FA-F83C-F539-68C73ADD5DE7}"/>
              </a:ext>
            </a:extLst>
          </p:cNvPr>
          <p:cNvSpPr/>
          <p:nvPr/>
        </p:nvSpPr>
        <p:spPr>
          <a:xfrm>
            <a:off x="3854187" y="745893"/>
            <a:ext cx="1469808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+ Relativity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3C3F49B0-715B-A976-4FC9-4F0B0FA1BB69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3009536" y="664512"/>
            <a:ext cx="0" cy="80727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直线连接符 1344">
            <a:extLst>
              <a:ext uri="{FF2B5EF4-FFF2-40B4-BE49-F238E27FC236}">
                <a16:creationId xmlns:a16="http://schemas.microsoft.com/office/drawing/2014/main" id="{8D682AE2-3B01-174D-C568-A494F2EFDB6F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4589096" y="665172"/>
            <a:ext cx="1" cy="80727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3" name="圆角矩形 1352">
            <a:extLst>
              <a:ext uri="{FF2B5EF4-FFF2-40B4-BE49-F238E27FC236}">
                <a16:creationId xmlns:a16="http://schemas.microsoft.com/office/drawing/2014/main" id="{31C1AE3C-D60F-C110-23C5-3AF32A3FEEB5}"/>
              </a:ext>
            </a:extLst>
          </p:cNvPr>
          <p:cNvSpPr/>
          <p:nvPr/>
        </p:nvSpPr>
        <p:spPr>
          <a:xfrm>
            <a:off x="5410296" y="754506"/>
            <a:ext cx="1309474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gravity 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4" name="直线连接符 1353">
            <a:extLst>
              <a:ext uri="{FF2B5EF4-FFF2-40B4-BE49-F238E27FC236}">
                <a16:creationId xmlns:a16="http://schemas.microsoft.com/office/drawing/2014/main" id="{1D89135C-D4A3-7B4B-CA0C-9467232E5D16}"/>
              </a:ext>
            </a:extLst>
          </p:cNvPr>
          <p:cNvCxnSpPr>
            <a:cxnSpLocks/>
            <a:stCxn id="1353" idx="0"/>
          </p:cNvCxnSpPr>
          <p:nvPr/>
        </p:nvCxnSpPr>
        <p:spPr>
          <a:xfrm flipV="1">
            <a:off x="6065033" y="673784"/>
            <a:ext cx="0" cy="80727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8" name="圆角矩形 1377">
            <a:extLst>
              <a:ext uri="{FF2B5EF4-FFF2-40B4-BE49-F238E27FC236}">
                <a16:creationId xmlns:a16="http://schemas.microsoft.com/office/drawing/2014/main" id="{C473BFCD-F198-135F-F397-42483E5DA572}"/>
              </a:ext>
            </a:extLst>
          </p:cNvPr>
          <p:cNvSpPr/>
          <p:nvPr/>
        </p:nvSpPr>
        <p:spPr>
          <a:xfrm>
            <a:off x="2293000" y="1345764"/>
            <a:ext cx="1469815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Relativity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9" name="圆角矩形 1378">
            <a:extLst>
              <a:ext uri="{FF2B5EF4-FFF2-40B4-BE49-F238E27FC236}">
                <a16:creationId xmlns:a16="http://schemas.microsoft.com/office/drawing/2014/main" id="{A387DDCC-89CC-D247-47AC-310179702849}"/>
              </a:ext>
            </a:extLst>
          </p:cNvPr>
          <p:cNvSpPr/>
          <p:nvPr/>
        </p:nvSpPr>
        <p:spPr>
          <a:xfrm>
            <a:off x="3854187" y="1346424"/>
            <a:ext cx="1469808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+ Relativity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83" name="直线连接符 1382">
            <a:extLst>
              <a:ext uri="{FF2B5EF4-FFF2-40B4-BE49-F238E27FC236}">
                <a16:creationId xmlns:a16="http://schemas.microsoft.com/office/drawing/2014/main" id="{323C700E-5341-9418-9B0E-26F2D53B3AC3}"/>
              </a:ext>
            </a:extLst>
          </p:cNvPr>
          <p:cNvCxnSpPr>
            <a:stCxn id="1378" idx="0"/>
          </p:cNvCxnSpPr>
          <p:nvPr/>
        </p:nvCxnSpPr>
        <p:spPr>
          <a:xfrm flipH="1" flipV="1">
            <a:off x="3009536" y="1265043"/>
            <a:ext cx="0" cy="8072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直线连接符 1383">
            <a:extLst>
              <a:ext uri="{FF2B5EF4-FFF2-40B4-BE49-F238E27FC236}">
                <a16:creationId xmlns:a16="http://schemas.microsoft.com/office/drawing/2014/main" id="{026F0CAA-4656-BE8D-E4CC-CCD9CF6FB615}"/>
              </a:ext>
            </a:extLst>
          </p:cNvPr>
          <p:cNvCxnSpPr>
            <a:cxnSpLocks/>
            <a:stCxn id="1379" idx="0"/>
          </p:cNvCxnSpPr>
          <p:nvPr/>
        </p:nvCxnSpPr>
        <p:spPr>
          <a:xfrm flipH="1" flipV="1">
            <a:off x="4589096" y="1265703"/>
            <a:ext cx="1" cy="8072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圆角矩形 1385">
            <a:extLst>
              <a:ext uri="{FF2B5EF4-FFF2-40B4-BE49-F238E27FC236}">
                <a16:creationId xmlns:a16="http://schemas.microsoft.com/office/drawing/2014/main" id="{C7D8762C-F964-81E7-0AE8-B53AF53AA6E9}"/>
              </a:ext>
            </a:extLst>
          </p:cNvPr>
          <p:cNvSpPr/>
          <p:nvPr/>
        </p:nvSpPr>
        <p:spPr>
          <a:xfrm>
            <a:off x="5410296" y="1355037"/>
            <a:ext cx="1309474" cy="236808"/>
          </a:xfrm>
          <a:prstGeom prst="roundRect">
            <a:avLst/>
          </a:prstGeom>
          <a:solidFill>
            <a:srgbClr val="E4F2DD"/>
          </a:solidFill>
          <a:ln>
            <a:solidFill>
              <a:srgbClr val="A3C9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gravity +</a:t>
            </a:r>
            <a:r>
              <a:rPr kumimoji="1" lang="zh-CN" altLang="en-US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75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endParaRPr kumimoji="1" lang="zh-CN" altLang="en-US" sz="1275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87" name="直线连接符 1386">
            <a:extLst>
              <a:ext uri="{FF2B5EF4-FFF2-40B4-BE49-F238E27FC236}">
                <a16:creationId xmlns:a16="http://schemas.microsoft.com/office/drawing/2014/main" id="{31251280-35B4-F74F-B437-A474EA32305D}"/>
              </a:ext>
            </a:extLst>
          </p:cNvPr>
          <p:cNvCxnSpPr>
            <a:cxnSpLocks/>
            <a:stCxn id="1386" idx="0"/>
          </p:cNvCxnSpPr>
          <p:nvPr/>
        </p:nvCxnSpPr>
        <p:spPr>
          <a:xfrm flipV="1">
            <a:off x="6065033" y="1274315"/>
            <a:ext cx="0" cy="8072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C7D7883-337C-C5C6-D642-60838652029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183254" y="664510"/>
            <a:ext cx="9417708" cy="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直线连接符 1381">
            <a:extLst>
              <a:ext uri="{FF2B5EF4-FFF2-40B4-BE49-F238E27FC236}">
                <a16:creationId xmlns:a16="http://schemas.microsoft.com/office/drawing/2014/main" id="{FC4DB6BD-E153-BC9E-DDAA-0E37672F4743}"/>
              </a:ext>
            </a:extLst>
          </p:cNvPr>
          <p:cNvCxnSpPr>
            <a:cxnSpLocks/>
            <a:stCxn id="1381" idx="3"/>
          </p:cNvCxnSpPr>
          <p:nvPr/>
        </p:nvCxnSpPr>
        <p:spPr>
          <a:xfrm>
            <a:off x="2183254" y="1265041"/>
            <a:ext cx="9417708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55018769-8C9E-EC51-D2C9-18679AF37C9F}"/>
              </a:ext>
            </a:extLst>
          </p:cNvPr>
          <p:cNvSpPr txBox="1"/>
          <p:nvPr/>
        </p:nvSpPr>
        <p:spPr>
          <a:xfrm>
            <a:off x="2247565" y="374367"/>
            <a:ext cx="4527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r>
              <a:rPr kumimoji="1" lang="zh-CN" altLang="en-US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kumimoji="1" lang="zh-CN" altLang="en-US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kumimoji="1" lang="zh-CN" altLang="en-US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b="1" dirty="0">
                <a:solidFill>
                  <a:srgbClr val="3F7D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kumimoji="1" lang="zh-CN" altLang="en-US" sz="1400" b="1" dirty="0">
              <a:solidFill>
                <a:srgbClr val="3F7D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任意形状 82">
            <a:extLst>
              <a:ext uri="{FF2B5EF4-FFF2-40B4-BE49-F238E27FC236}">
                <a16:creationId xmlns:a16="http://schemas.microsoft.com/office/drawing/2014/main" id="{E0C2F9B7-C48F-99F9-194C-385391FC309C}"/>
              </a:ext>
            </a:extLst>
          </p:cNvPr>
          <p:cNvSpPr/>
          <p:nvPr/>
        </p:nvSpPr>
        <p:spPr>
          <a:xfrm rot="10800000">
            <a:off x="4238246" y="1686210"/>
            <a:ext cx="534841" cy="288000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rgbClr val="7A9777"/>
              </a:gs>
            </a:gsLst>
            <a:lin ang="5400000" scaled="0"/>
            <a:tileRect/>
          </a:gradFill>
          <a:ln>
            <a:gradFill>
              <a:gsLst>
                <a:gs pos="56000">
                  <a:srgbClr val="7A9777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6" name="任意形状 85">
            <a:extLst>
              <a:ext uri="{FF2B5EF4-FFF2-40B4-BE49-F238E27FC236}">
                <a16:creationId xmlns:a16="http://schemas.microsoft.com/office/drawing/2014/main" id="{3A64A319-C022-1F3C-7858-CF1B55924884}"/>
              </a:ext>
            </a:extLst>
          </p:cNvPr>
          <p:cNvSpPr/>
          <p:nvPr/>
        </p:nvSpPr>
        <p:spPr>
          <a:xfrm rot="10800000">
            <a:off x="9066017" y="1678566"/>
            <a:ext cx="540000" cy="288000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rgbClr val="E6A087"/>
              </a:gs>
            </a:gsLst>
            <a:lin ang="5400000" scaled="0"/>
            <a:tileRect/>
          </a:gradFill>
          <a:ln>
            <a:gradFill>
              <a:gsLst>
                <a:gs pos="56000">
                  <a:srgbClr val="E6A087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4B0CF49-8273-67B1-381E-AACF67775BB8}"/>
              </a:ext>
            </a:extLst>
          </p:cNvPr>
          <p:cNvSpPr txBox="1"/>
          <p:nvPr/>
        </p:nvSpPr>
        <p:spPr>
          <a:xfrm>
            <a:off x="6895606" y="374367"/>
            <a:ext cx="4862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1400" b="1" dirty="0">
                <a:solidFill>
                  <a:srgbClr val="8F39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only in individual models</a:t>
            </a:r>
            <a:endParaRPr kumimoji="1" lang="zh-CN" altLang="en-US" sz="1400" b="1" dirty="0">
              <a:solidFill>
                <a:srgbClr val="8F391C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02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23964</TotalTime>
  <Words>114</Words>
  <Application>Microsoft Macintosh PowerPoint</Application>
  <PresentationFormat>自定义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磊 程</cp:lastModifiedBy>
  <cp:revision>91</cp:revision>
  <cp:lastPrinted>2025-05-06T06:43:24Z</cp:lastPrinted>
  <dcterms:created xsi:type="dcterms:W3CDTF">2025-01-16T21:47:37Z</dcterms:created>
  <dcterms:modified xsi:type="dcterms:W3CDTF">2026-07-06T14:57:16Z</dcterms:modified>
</cp:coreProperties>
</file>